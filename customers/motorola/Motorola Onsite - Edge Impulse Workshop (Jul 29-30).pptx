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MSI team. Frame the two days: Day 1 is context and architecture (why edge AI, how Edge Impulse works, how it deploys to Qualcomm hardware). Day 2 is hands-on in Studio building toward the audio bandwidth extension use case. Note the deck is Qualcomm-confidential.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round of intros — names, roles, and who to ping for what. Encourage the MSI team to introduce themselves and share what they most want to get out of the two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Day 1 builds shared vocabulary and shows how the platform maps to MSI's hardware and use case. Day 2 is fingers-on-keyboard. We'll adjust pace to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through the Day 1 shape. Lunch &amp; Learn is relaxed; Session A is conceptual; Session B gets into architecture and how models actually ship to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Keep it conversational — this section is about building shared language before we open Studio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definition simply: the model runs on the device. Contrast with cloud AI's round trip. Tie immediately to MSI — voice audio has to be processed live in the handset.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reasons edge wins. For MSI, lead with latency, privacy, and reliability — public-safety comms can't depend on a network being there. Bandwidth/cost and power matter at fleet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Edge Impulse as the connective tissue across the whole ML lifecycle, not just a training tool. Emphasize the Qualcomm relationship and hardware-awareness — that's the bridge to their Hexagon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capabilities that matter once you move past a single prototype. For MSI, call out org datasets (S3), custom blocks (their audio DSP), BYOM, and private deployment /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This is the most important slide of Session A — capture MSI's answers live. Success criteria, data reality, and target hardware/compute budget shape everything we do on Day 2. Note data restrictions (no PII / regulated data on the platform).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concepts to engineering. This half is about how models are built repeatably and how they physically get onto the Qualcomm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team in the fundamentals without going academic. The two takeaways: (1) data quality dominates, (2) embedded adds memory/latency/power constraints. The math-parity point pre-empts a common panic — 'it works in Studio but not on device' is almost always data, not the compiler.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MLOps for embedded. Stress that it's a loop: the value compounds when data collection, training, and deployment are automated and versioned. Continuous learning / OTA is how they keep the model improving in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top to bottom: data flows in, Studio builds and compiles, and the artifact runs on Hexagon inside their Android application. Keep it conceptual now — Day 2 makes each layer concrete. Invite MSI engineers to challenge/annotate it against their real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breadth so MSI sees the platform isn't single-purpose — but keep audio bandwidth extension front and center (highlighted). Useful for surfacing adjacent opportunities in their fleet.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Compilation is where embedded gets real. EON Compiler's win is memory efficiency and no interpreter overhead. Avoid quoting a hard percentage live unless you have MSI's exact target numbers — say 'meaningfully less RAM/flash' and offer to benchmark on their model. Emphasize Hexagon offload as the performance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the options to MSI's reality: their path is the exported C++ library integrated into the Android application, accelerated on Hexagon. Dev kits are great for a fast first validation. OTA/continuous learning is the long-game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and set homework. Ask them to bring laptops, the target device(s), and sample audio if data restrictions allow. Confirm the 9am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is a workshop — expect to spend most of the day in Studio and on hardware. Keep the agenda loose; we follow the data and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 off the hands-on day. Make sure everyone has an account/invite and their laptop ready before we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everyone into the same org and project. Verify sample rate up front — mismatches here cause pain later. Re-state the data-restriction rules before any real audio goes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real hardware in the loop early. If the exact target isn't ready, use a supported dev kit to keep momentum. Capture the compute budget now — it constrains model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where the accuracy is won. Push for representative, well-labeled audio with rich metadata. Establish a clean held-out test set now so tomorrow's numbers are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impulse = DSP + model. For bandwidth extension the DSP design and windowing matter enormously. Use custom blocks or BYOM if MSI already has a pipeline. Look at the feature explorer before spending GPU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first, then let the EON Tuner explore within the memory/latency budget captured on Day 2 Step 2. If results disappoint, revisit data before architecture. Show on-device performance estimates alongside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payoff: model running on their hardware. Walk through the export → integrate → accelerate flow. Emphasize on-device validation. If time is tight, demo on a dev kit and hand off the Android integration as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quality loop. The Performance Calibration tool is key for audio — it simulates real streaming to set false-accept / false-reject behavior. Reinforce: validate on the device under realistic conditions, not just clean clips.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wow moment. Have a fallback recording in case live audio misbehaves. Let MSI hear the before/after themselves. Tie it straight back to the success criteria from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two days into action. Assign owners and dates for each item before everyone leaves the room. Patrick to follow up with a written recap and the meeting cadence.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warmly. Reiterate Patrick is their point of contact and that a written recap with owners/dates is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377440"/>
            <a:ext cx="7315200" cy="7315200"/>
          </a:xfrm>
          <a:prstGeom prst="ellipse">
            <a:avLst/>
          </a:prstGeom>
          <a:solidFill>
            <a:srgbClr val="4B2AA6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4572000" cy="4572000"/>
          </a:xfrm>
          <a:prstGeom prst="ellipse">
            <a:avLst/>
          </a:prstGeom>
          <a:solidFill>
            <a:srgbClr val="5C39C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2560320"/>
            <a:ext cx="5486400" cy="5486400"/>
          </a:xfrm>
          <a:prstGeom prst="ellipse">
            <a:avLst/>
          </a:prstGeom>
          <a:solidFill>
            <a:srgbClr val="4B2AA6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SOLUTIONS  ×  EDGE IMPULSE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On-Site Workshop &amp; Technical Enablement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Two-day hands-on enablement for the core MSI team — from Edge AI foundations to on-device deployment for Audio Bandwidth Extension.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29–30, 2026</a:t>
            </a:r>
            <a:pPr indent="0" marL="0">
              <a:buNone/>
            </a:pPr>
            <a:r>
              <a:rPr lang="en-US" sz="1300" dirty="0">
                <a:solidFill>
                  <a:srgbClr val="3FE0BE"/>
                </a:solidFill>
              </a:rPr>
              <a:t>     •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Motorola Solutions — Florida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Edge Impulse team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41832" y="2221992"/>
            <a:ext cx="566928" cy="566928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1671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Zin Thein Kyaw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25328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Manager, Solutions Engineering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" y="3136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&amp; Learn + Session A lead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19659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2221992"/>
            <a:ext cx="566928" cy="566928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9" name="Text 17"/>
          <p:cNvSpPr/>
          <p:nvPr/>
        </p:nvSpPr>
        <p:spPr>
          <a:xfrm>
            <a:off x="4690872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21671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Ashvin Roharia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25328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Solutions Engineer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0872" y="3136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training + pipelines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83880" y="19659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39912" y="2221992"/>
            <a:ext cx="566928" cy="566928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5" name="Text 23"/>
          <p:cNvSpPr/>
          <p:nvPr/>
        </p:nvSpPr>
        <p:spPr>
          <a:xfrm>
            <a:off x="8439912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0" y="21671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Joshua Buck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25328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Staff Engineer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39912" y="3136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on-device deployment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40233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1832" y="4279392"/>
            <a:ext cx="566928" cy="566928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" y="4279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45920" y="42245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Patrick Ruster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45920" y="45902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Manager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1832" y="51937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day-to-day point of contact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34840" y="40233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90872" y="4279392"/>
            <a:ext cx="566928" cy="566928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7" name="Text 35"/>
          <p:cNvSpPr/>
          <p:nvPr/>
        </p:nvSpPr>
        <p:spPr>
          <a:xfrm>
            <a:off x="4690872" y="4279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94960" y="42245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Teague Gudemann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94960" y="45902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Account Executive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90872" y="51937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+ roadmap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83880" y="402336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39912" y="4279392"/>
            <a:ext cx="566928" cy="566928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43" name="Text 41"/>
          <p:cNvSpPr/>
          <p:nvPr/>
        </p:nvSpPr>
        <p:spPr>
          <a:xfrm>
            <a:off x="8439912" y="4279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144000" y="42245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Albert Ko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44000" y="45902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Sales, Americas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39912" y="51937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days, end to end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9659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</a:t>
            </a:r>
            <a:pPr indent="0" marL="0">
              <a:buNone/>
            </a:pPr>
            <a:r>
              <a:rPr lang="en-US" sz="13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July 29 · 12–5pm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4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&amp; Learn — kickoff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A: Introduction to Edge AI &amp; Edge Impulse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 &amp; why of edge AI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tour + enterprise capabilities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B: MLOps, Architecture &amp; Android Deployment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embedded AI, data lifecycle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compilation, deployment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2</a:t>
            </a:r>
            <a:pPr indent="0" marL="0">
              <a:buNone/>
            </a:pPr>
            <a:r>
              <a:rPr lang="en-US" sz="13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July 30 · 9–5pm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26974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 Edge Impulse Studio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setup + device provisioning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pipeline design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deployment</a:t>
            </a:r>
            <a:endParaRPr lang="en-US" sz="16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&amp; calibration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synthetic voice generation demo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66928" y="3200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B8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66928" y="4160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12–5 pm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Lunch &amp; Learn — Zin Kyaw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197510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414016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Session A · Introduction to Edge AI &amp; Edge Impulse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66360" y="281635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— the what and the why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309067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Edge Impulse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33649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capabilities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363931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&amp; use-case discussion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4059936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Session B · MLOps, Architectures &amp; Android Deployment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37760" y="482803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5:00 pm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51206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embedded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53949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— MLOps lifecycle &amp; processing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56692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review of support use cases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59436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·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Introduction to Edge AI &amp; Edge Impulse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what, the why, and the platform that gets you there.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· EDGE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AI — the what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machine-learning inference directly on the device that captures the data — a microphone, radio, camera or sensor — instead of sending it to the cloud.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once, then compiled to run within the device's own compute budget (MCU, DSP, or NPU).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“Embedded AI” and “TinyML” describe the same shift: intelligence at the point of signal.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MSI: audio processing that happens in the handset, in real time, with no round trip.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0" y="1874520"/>
            <a:ext cx="4434840" cy="4206240"/>
          </a:xfrm>
          <a:prstGeom prst="roundRect">
            <a:avLst>
              <a:gd name="adj" fmla="val 2609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B8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69480" y="23957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 →  network  →  server  →  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27249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· connectivity · data leaves device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3291840"/>
            <a:ext cx="3977640" cy="0"/>
          </a:xfrm>
          <a:prstGeom prst="line">
            <a:avLst/>
          </a:prstGeom>
          <a:noFill/>
          <a:ln w="12700">
            <a:solidFill>
              <a:srgbClr val="5C3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38130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 →  answer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4142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· offline-capable · private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4892040"/>
            <a:ext cx="502920" cy="50292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0" y="4937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where the signal is born.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· EDGE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AI — the why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41832" y="2130552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1122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 with no network round trip — essential for live audio.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2628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2130552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1122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Privacy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audio never has to leave the device.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6676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22792" y="2130552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3" name="Text 21"/>
          <p:cNvSpPr/>
          <p:nvPr/>
        </p:nvSpPr>
        <p:spPr>
          <a:xfrm>
            <a:off x="862279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35440" y="21122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4108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or intermittent connectivity — critical for public-safety radios.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023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" y="4279392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426110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Bandwidth &amp; cost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846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streaming of raw data; lower cloud and network cost at scale.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4023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82312" y="4279392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426110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00600" y="4846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models fit tight energy budgets on battery devices.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366760" y="4023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22792" y="4279392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8" name="Text 36"/>
          <p:cNvSpPr/>
          <p:nvPr/>
        </p:nvSpPr>
        <p:spPr>
          <a:xfrm>
            <a:off x="8622792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35440" y="426110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Determinism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41080" y="4846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on-device behavior you can validate and certify.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· 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Introduction to Edge Impulse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platform for building, testing and deploying embedded ML — now part of Qualcomm.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 from raw sensor data to an optimized model running on your target hardware.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(web) for the full team; APIs, SDKs and CLI for automation and CI/CD.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Hardware-aware: targets MCUs, MPUs, DSPs and NPUs — including Qualcomm Hexagon.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audio, vision, and sensor applications in production at scale.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78040" y="1874520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79208" y="202082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4" name="Text 12"/>
          <p:cNvSpPr/>
          <p:nvPr/>
        </p:nvSpPr>
        <p:spPr>
          <a:xfrm>
            <a:off x="7379208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1000" y="18745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78040" y="2825496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79208" y="297180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8" name="Text 16"/>
          <p:cNvSpPr/>
          <p:nvPr/>
        </p:nvSpPr>
        <p:spPr>
          <a:xfrm>
            <a:off x="7379208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01000" y="2825496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impulse (DSP + model)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78040" y="377647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79208" y="3922776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2" name="Text 20"/>
          <p:cNvSpPr/>
          <p:nvPr/>
        </p:nvSpPr>
        <p:spPr>
          <a:xfrm>
            <a:off x="7379208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01000" y="3776472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178040" y="4727448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79208" y="4873752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6" name="Text 24"/>
          <p:cNvSpPr/>
          <p:nvPr/>
        </p:nvSpPr>
        <p:spPr>
          <a:xfrm>
            <a:off x="7379208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01000" y="472744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validate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178040" y="5678424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79208" y="582472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0" name="Text 28"/>
          <p:cNvSpPr/>
          <p:nvPr/>
        </p:nvSpPr>
        <p:spPr>
          <a:xfrm>
            <a:off x="7379208" y="5824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01000" y="5678424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device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· ENTERPRISE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Enterprise capabilities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075688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Organization datasets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2167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S3 buckets; manage large datasets and versioning centrally.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38728" y="187452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67328" y="2075688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Collaboration &amp; roles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67328" y="2697480"/>
            <a:ext cx="2167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projects, role-based access, and team workflows.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91656" y="187452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0256" y="2075688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GPU training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20256" y="2697480"/>
            <a:ext cx="2167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GPUs for large audio and image projects.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44584" y="187452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73184" y="2075688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 blocks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73184" y="2697480"/>
            <a:ext cx="2167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DSP and model architectures in Python / C++.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97764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178808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BYOM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4800600"/>
            <a:ext cx="2167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pre-trained model, then compile and test it in Studio.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38728" y="397764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67328" y="4178808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Transformation blocks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67328" y="4800600"/>
            <a:ext cx="2167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label data at scale using our compute.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91656" y="397764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20256" y="4178808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Automation APIs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20256" y="4800600"/>
            <a:ext cx="2167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API, CLI and CI/CD hooks for repeatable pipelines.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44584" y="397764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473184" y="4178808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Dedicated support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473184" y="4800600"/>
            <a:ext cx="2167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engineering, private deployment options, and SLAs.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· DISCUSSION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Focus use case — Audio Bandwidth Extension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6400800" cy="4160520"/>
          </a:xfrm>
          <a:prstGeom prst="roundRect">
            <a:avLst>
              <a:gd name="adj" fmla="val 263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and extend audio bandwidth in real time to enhance device audio quality — clearer, more intelligible voice communication with no added latency.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on-device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live in the handset on Qualcomm Hexagon acceleration — private, low-latency, and reliable even off-network.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Discussion prompts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success look like — quality metric, latency, footprint?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audio data do we have, and how is it captured?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device(s) and compute budget?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874520"/>
            <a:ext cx="4160520" cy="4160520"/>
          </a:xfrm>
          <a:prstGeom prst="roundRect">
            <a:avLst>
              <a:gd name="adj" fmla="val 263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43800" y="2057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Align before we build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43800" y="2514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&amp; target outcomes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audio pipeline to validate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 DSP/NPU acceleration (near-term)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 workflow requirements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usage restrictions to respect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1:30 – 5:00 PM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MLOps, Architecture &amp; Android Deployment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lifecycle to a model running on the device.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FOUNDATIONS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 &amp; embedded AI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learns a mapping from example data — quality and representativeness of data drives everything downstream.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adds hard constraints: memory (RAM/flash), latency, and power.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(DSP) extracts features before the model — for audio this is where much of the accuracy is won.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quantized (e.g. int8) and compiled to run within the device budget.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“Math parity”: Studio and the on-device C++ compute the same thing — poor real-world results usually mean data issues, not the port.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3 embedded constraints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60604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11312" y="2587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11312" y="29169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&amp; flash the model must fit inside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365760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11312" y="3639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Latency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11312" y="396849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 per inference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35240" y="470916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11312" y="4690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11312" y="50200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inference on battery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MLOPS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Enterprise data — the MLOps lifecycle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66928" y="182880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" y="202996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256032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Collect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6384" y="290779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via API, CSV wizard, or S3 datasets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9856" y="182880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39312" y="202996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8" name="Text 16"/>
          <p:cNvSpPr/>
          <p:nvPr/>
        </p:nvSpPr>
        <p:spPr>
          <a:xfrm>
            <a:off x="3639312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39312" y="256032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Label &amp; organize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39312" y="290779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versioning for traceability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2784" y="182880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202996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56032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Process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92240" y="290779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feature-engineer at scale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25712" y="182880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45168" y="202996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8" name="Text 26"/>
          <p:cNvSpPr/>
          <p:nvPr/>
        </p:nvSpPr>
        <p:spPr>
          <a:xfrm>
            <a:off x="934516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45168" y="256032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Train &amp; tune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345168" y="290779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EON Tuner searches within your budget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384048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6384" y="4041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" y="457200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86384" y="491947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unseen data + calibration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19856" y="384048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39312" y="4041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8" name="Text 36"/>
          <p:cNvSpPr/>
          <p:nvPr/>
        </p:nvSpPr>
        <p:spPr>
          <a:xfrm>
            <a:off x="3639312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39312" y="457200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Deploy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639312" y="491947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to optimized C++ for the target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2784" y="3840480"/>
            <a:ext cx="2596896" cy="1645920"/>
          </a:xfrm>
          <a:prstGeom prst="roundRect">
            <a:avLst>
              <a:gd name="adj" fmla="val 666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92240" y="4041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92240" y="457200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Monitor &amp; retrain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492240" y="4919472"/>
            <a:ext cx="2157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/ OTA closes the loop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repeatable, versioned loop — not a one-off training run.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Reference architecture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280160" y="1965960"/>
            <a:ext cx="9601200" cy="914400"/>
          </a:xfrm>
          <a:prstGeom prst="roundRect">
            <a:avLst>
              <a:gd name="adj" fmla="val 12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2093976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46888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audio · existing corpora · S3 org datasets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5806440" y="2862072"/>
            <a:ext cx="548640" cy="256032"/>
          </a:xfrm>
          <a:prstGeom prst="chevron">
            <a:avLst/>
          </a:prstGeom>
          <a:solidFill>
            <a:srgbClr val="3FE0BE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3136392"/>
            <a:ext cx="9601200" cy="914400"/>
          </a:xfrm>
          <a:prstGeom prst="roundRect">
            <a:avLst>
              <a:gd name="adj" fmla="val 12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0" y="3264408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Impulse Studio &amp; APIs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363931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DSP blocks · training · EON Tuner · testing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806440" y="4032504"/>
            <a:ext cx="548640" cy="256032"/>
          </a:xfrm>
          <a:prstGeom prst="chevron">
            <a:avLst/>
          </a:prstGeom>
          <a:solidFill>
            <a:srgbClr val="3FE0B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80160" y="4306824"/>
            <a:ext cx="9601200" cy="914400"/>
          </a:xfrm>
          <a:prstGeom prst="roundRect">
            <a:avLst>
              <a:gd name="adj" fmla="val 12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45920" y="443484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Compilation — EON Compiler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4809744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Optimized, quantized C++ / TFLite Micro for the target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5806440" y="5202936"/>
            <a:ext cx="548640" cy="256032"/>
          </a:xfrm>
          <a:prstGeom prst="chevron">
            <a:avLst/>
          </a:prstGeom>
          <a:solidFill>
            <a:srgbClr val="3FE0BE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0160" y="5477256"/>
            <a:ext cx="9601200" cy="914400"/>
          </a:xfrm>
          <a:prstGeom prst="roundRect">
            <a:avLst>
              <a:gd name="adj" fmla="val 12000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45920" y="560527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On-device runtime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5980176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Hexagon (NPU/DSP) · integrated into the Android app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APPLICATIONS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of supported use cases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41832" y="2112264"/>
            <a:ext cx="548640" cy="54864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2112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Audio bandwidth extension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high-frequency content for clearer voice — MSI's focus.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2112264"/>
            <a:ext cx="548640" cy="54864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2112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Keyword &amp; voice activity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0060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words, VAD, and command recognition on-device.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6676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22792" y="2112264"/>
            <a:ext cx="548640" cy="54864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3" name="Text 21"/>
          <p:cNvSpPr/>
          <p:nvPr/>
        </p:nvSpPr>
        <p:spPr>
          <a:xfrm>
            <a:off x="8622792" y="2112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8116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Audio classification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4108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events and acoustic scenes from raw audio.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3977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" y="4215384"/>
            <a:ext cx="548640" cy="54864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" y="4215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0200" y="4251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Noise suppression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0120" y="4892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speech in noisy field environments.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26280" y="3977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82312" y="4215384"/>
            <a:ext cx="548640" cy="54864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4215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4251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Sensor &amp; anomaly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800600" y="4892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motion, and predictive-maintenance signals.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66760" y="3977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22792" y="4215384"/>
            <a:ext cx="548640" cy="54864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8" name="Text 36"/>
          <p:cNvSpPr/>
          <p:nvPr/>
        </p:nvSpPr>
        <p:spPr>
          <a:xfrm>
            <a:off x="8622792" y="4215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281160" y="4251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Vision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641080" y="4892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classification where a camera is present.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COMPILATION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model to optimized firmware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EON Compiler generates optimized C++ that runs the model without a full interpreter — reducing RAM and flash versus stock TFLite Micro.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quantized (typically int8) to shrink footprint and speed inference.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portable C++ library (TFLM) — or a Linux .eim binary for MPUs.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acceleration: the runtime can offload to Qualcomm Hexagon (DSP/NPU) for higher throughput at lower power.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parity is preserved — the compiled library computes the same result as Studio.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get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560320"/>
            <a:ext cx="411480" cy="41148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25237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C++ library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283464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into the Android/embedded build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383280"/>
            <a:ext cx="411480" cy="41148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334670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Quantized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365760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int8, budget-fit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4206240"/>
            <a:ext cx="411480" cy="41148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83880" y="416966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Hexagon offload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83880" y="448056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NPU/DSP acceleration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35240" y="5029200"/>
            <a:ext cx="411480" cy="41148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83880" y="499262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Reproducible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83880" y="530352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 as Studio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DEPLOYMENT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Deployment options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1832" y="209397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C++ library (MCU/MPU)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41832" y="27432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TFLite-Micro library you compile into firmware.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82312" y="209397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Android integration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2312" y="27432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exported library in the Android app; accelerate on Hexagon.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66760" y="18745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22792" y="209397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Linux .eim binary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22792" y="27432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binary for MPU-class Linux targets.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" y="419709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Supported dev kits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1832" y="4846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pre-built binaries to validate quickly on hardware.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3977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82312" y="419709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 deployment blocks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82312" y="4846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your own package/firmware format for your toolchain.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3977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22792" y="419709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Continuous learning / OTA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622792" y="4846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and push improved models to the field.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RECAP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landed today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6492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vocabulary: what edge AI is and why it fits MSI's audio use case.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Edge Impulse spans the full lifecycle — data to deployment.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architecture: Studio → EON Compiler → Hexagon on Android.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on the audio bandwidth extension success criteria and constraints.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0" y="192024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Tomorrow — hands-on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35240" y="25146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Studio + provision a device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pipeline your audio data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test, and calibrate a model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on-device + live voice demo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52120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 laptops, target device(s), and any sample audio you can share.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66928" y="3200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B8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66928" y="4160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 am – 5 pm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Setup &amp;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66360" y="202996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Studio setup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23042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provisioning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5786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integration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8529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· pipeline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27355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66360" y="36758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9502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42245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44988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&amp; calibration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91947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66360" y="53218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E0BE"/>
                </a:solidFill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synthetic voice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1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HANDS-ON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Building it together in Edge Impulse Studio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setup through a live on-device demo.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Impulse Studio setup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1856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 in to the enterprise organization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07592" y="21854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invites — 3 of 6 seats already provisioned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 the project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07592" y="3209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for the audio BW extension work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3904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project type &amp; sampling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07592" y="42336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correct sample rate and window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07592" y="4928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teammates &amp; roles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07592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hands-on gets access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Watch-outs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89520" y="254203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sample rate to the device capture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project as the working baseline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data restrictions — no PII/regulated data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STEP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Device provisioning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1856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Connect the target device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07592" y="21854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CLI / data forwarder or supported dev kit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Verify data flow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07592" y="3209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live samples arrive in Studio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3904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compute budget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07592" y="42336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RAM/flash headroom on the target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07592" y="4928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Baseline latency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07592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 reference inference time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Watch-outs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89520" y="254203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Edge Impulse CLI installed beforehand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device's RAM/flash limits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 kit is the fastest path to first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STEP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collection &amp; integration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1856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Ingest existing audio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07592" y="21854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wizard or Ingestion API for corpora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Connect org datasets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07592" y="3209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S3-backed datasets for scale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3904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metadata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07592" y="42336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environment, speaker — for troubleshooting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07592" y="4928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Split train / test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07592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clean, unseen test set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89520" y="254203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data beats more data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is your debugging superpower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test data leak into training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STEP 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Pipeline design (the impulse)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1856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a DSP / processing block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07592" y="21854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audio features (or a custom block)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 the learn block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07592" y="3209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or bring the model architecture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3904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Configure windowing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07592" y="42336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&amp; stride for streaming audio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07592" y="4928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Generate features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07592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feature separability before training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audio BW extension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89520" y="254203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DSP blocks (Python/C++) fit specialized pipelines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BYOM if you already have a model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explorer reveals class separation early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STEP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training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1856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Train the baseline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07592" y="21854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first accuracy/loss reference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 the EON Tuner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07592" y="3209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architectures within the device budget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3904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GPU training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07592" y="42336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audio datasets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07592" y="4928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metrics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07592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loss, and on-device estimates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Watch-outs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89520" y="254203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results usually = data, not architecture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EON Tuner optimizes for your latency/RAM target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overfitting &amp; class imbalance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STEP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Deployment — on-device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1856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Export the C++ library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07592" y="21854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EON-compiled, quantized for the target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Integrate into the Android app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07592" y="3209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library into the build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3904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Enable Hexagon acceleration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07592" y="42336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inference to the NPU/DSP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07592" y="4928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 on hardware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07592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real inference on the device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MSI's target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89520" y="254203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library → Android integration is the path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 offload for throughput at low power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device, not just in Studio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STEP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Performance testing &amp; calibration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1856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 on unseen data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07592" y="21854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testing against the held-out set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classification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07592" y="3209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individual samples in detail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922776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3904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Performance calibration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07592" y="42336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real-world FAR / FRR for audio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07592" y="4928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Iterate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07592" y="5257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findings back into data &amp; training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1920240"/>
            <a:ext cx="4069080" cy="4023360"/>
          </a:xfrm>
          <a:prstGeom prst="roundRect">
            <a:avLst>
              <a:gd name="adj" fmla="val 272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Watch-outs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89520" y="2542032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samples ≠ the real world — test on device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metadata to explain misclassifications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simulates streaming conditions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1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LIVE DEMO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synthetic voice generation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deployed model live — reconstruct and extend bandwidth on a real voice signal in real time.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narrowband input vs. bandwidth-extended output by ear.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latency and on-device resource use during inference.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how this generalizes across MSI devices and field conditions.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0" y="1920240"/>
            <a:ext cx="4069080" cy="3840480"/>
          </a:xfrm>
          <a:prstGeom prst="roundRect">
            <a:avLst>
              <a:gd name="adj" fmla="val 2857"/>
            </a:avLst>
          </a:prstGeom>
          <a:solidFill>
            <a:srgbClr val="552FB0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Demo checklist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2542032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flashed &amp; connected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in/out routed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phrases ready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A-B toggle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recording on hand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A1C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011680"/>
            <a:ext cx="5943600" cy="5943600"/>
          </a:xfrm>
          <a:prstGeom prst="ellipse">
            <a:avLst/>
          </a:prstGeom>
          <a:solidFill>
            <a:srgbClr val="4B2A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3840480" cy="3840480"/>
          </a:xfrm>
          <a:prstGeom prst="ellipse">
            <a:avLst/>
          </a:prstGeom>
          <a:solidFill>
            <a:srgbClr val="5C39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2194560"/>
            <a:ext cx="4754880" cy="4754880"/>
          </a:xfrm>
          <a:prstGeom prst="ellipse">
            <a:avLst/>
          </a:prstGeom>
          <a:solidFill>
            <a:srgbClr val="4B2A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105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7498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Recap &amp; next steps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41832" y="211226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130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Provision remaining seats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the rest of the core team (3 of 6 remaining).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18745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211226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130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 data plan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0060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what audio we can use and how it's ingested.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66760" y="18745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22792" y="211226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3" name="Text 21"/>
          <p:cNvSpPr/>
          <p:nvPr/>
        </p:nvSpPr>
        <p:spPr>
          <a:xfrm>
            <a:off x="8622792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35440" y="2130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the working cadence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4108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 / monthly sync + Slack or email channel.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" y="416966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41879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Baseline the model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012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trained model + on-device benchmark on the target.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2628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82312" y="416966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41879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Android integration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80060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Hexagon-accelerated deployment in the app.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6676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4A2A9E"/>
          </a:solidFill>
          <a:ln/>
          <a:effectLst>
            <a:outerShdw sx="100000" sy="100000" kx="0" ky="0" algn="bl" rotWithShape="0" blurRad="101600" dist="38100" dir="5400000">
              <a:srgbClr val="1A0E44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22792" y="4169664"/>
            <a:ext cx="457200" cy="457200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38" name="Text 36"/>
          <p:cNvSpPr/>
          <p:nvPr/>
        </p:nvSpPr>
        <p:spPr>
          <a:xfrm>
            <a:off x="862279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5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35440" y="41879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E0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Optional Innovation Day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641080" y="4754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workshop on a chosen extension.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1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194560"/>
            <a:ext cx="7315200" cy="7315200"/>
          </a:xfrm>
          <a:prstGeom prst="ellipse">
            <a:avLst/>
          </a:prstGeom>
          <a:solidFill>
            <a:srgbClr val="4B2AA6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560320"/>
            <a:ext cx="5486400" cy="5486400"/>
          </a:xfrm>
          <a:prstGeom prst="ellipse">
            <a:avLst/>
          </a:prstGeom>
          <a:solidFill>
            <a:srgbClr val="4B2AA6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292608"/>
            <a:ext cx="457200" cy="457200"/>
          </a:xfrm>
          <a:prstGeom prst="ellipse">
            <a:avLst/>
          </a:prstGeom>
          <a:ln w="31750">
            <a:solidFill>
              <a:srgbClr val="3FE0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411480"/>
            <a:ext cx="219456" cy="219456"/>
          </a:xfrm>
          <a:prstGeom prst="ellipse">
            <a:avLst/>
          </a:prstGeom>
          <a:solidFill>
            <a:srgbClr val="3FE0B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41248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clearer audio, on-device.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4343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Ruster · Customer Success Manager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7B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patrick@edgeimpulse.com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7B8EE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Qualcomm Technologies, Inc. and/or its affiliated companies — May Contain Trade Secrets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Edge Impulse / Qualcomm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Motorola Solutions x Edge Impulse — On-Site Workshop</dc:title>
  <dc:subject>PptxGenJS Presentation</dc:subject>
  <dc:creator>Edge Impulse</dc:creator>
  <cp:lastModifiedBy>Edge Impulse</cp:lastModifiedBy>
  <cp:revision>1</cp:revision>
  <dcterms:created xsi:type="dcterms:W3CDTF">2026-07-23T15:11:48Z</dcterms:created>
  <dcterms:modified xsi:type="dcterms:W3CDTF">2026-07-23T15:11:48Z</dcterms:modified>
</cp:coreProperties>
</file>